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b25d18759e408f" /><Relationship Type="http://schemas.openxmlformats.org/officeDocument/2006/relationships/extended-properties" Target="/docProps/app.xml" Id="Rb4455ce5dd224bec" /><Relationship Type="http://schemas.openxmlformats.org/officeDocument/2006/relationships/officeDocument" Target="/ppt/presentation.xml" Id="Rb1a6becf9a4949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8af4812089420b"/>
  </p:sldMasterIdLst>
  <p:notesMasterIdLst>
    <p:notesMasterId xmlns:r="http://schemas.openxmlformats.org/officeDocument/2006/relationships" r:id="R0e48023740c54ea1"/>
  </p:notesMasterIdLst>
  <p:sldIdLst>
    <p:sldId xmlns:r="http://schemas.openxmlformats.org/officeDocument/2006/relationships" id="256" r:id="R15b25d2c528645e3"/>
    <p:sldId xmlns:r="http://schemas.openxmlformats.org/officeDocument/2006/relationships" id="257" r:id="Rac4a7aaf5f7540c6"/>
    <p:sldId xmlns:r="http://schemas.openxmlformats.org/officeDocument/2006/relationships" id="258" r:id="R764f30bdb0904d5c"/>
    <p:sldId xmlns:r="http://schemas.openxmlformats.org/officeDocument/2006/relationships" id="259" r:id="Rbbd12229d11748d3"/>
    <p:sldId xmlns:r="http://schemas.openxmlformats.org/officeDocument/2006/relationships" id="260" r:id="Rad406512f44f4388"/>
    <p:sldId xmlns:r="http://schemas.openxmlformats.org/officeDocument/2006/relationships" id="261" r:id="R3d4377e170e74999"/>
    <p:sldId xmlns:r="http://schemas.openxmlformats.org/officeDocument/2006/relationships" id="262" r:id="R6594313d61f946de"/>
    <p:sldId xmlns:r="http://schemas.openxmlformats.org/officeDocument/2006/relationships" id="263" r:id="Ra6b82a96abfa434d"/>
    <p:sldId xmlns:r="http://schemas.openxmlformats.org/officeDocument/2006/relationships" id="264" r:id="R65df9b3f464c46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8af4812089420b" /><Relationship Type="http://schemas.openxmlformats.org/officeDocument/2006/relationships/theme" Target="/ppt/theme/theme1.xml" Id="Rfaf25206e6d6455a" /><Relationship Type="http://schemas.openxmlformats.org/officeDocument/2006/relationships/notesMaster" Target="/ppt/notesMasters/notesMaster1.xml" Id="R0e48023740c54ea1" /><Relationship Type="http://schemas.openxmlformats.org/officeDocument/2006/relationships/presProps" Target="/ppt/presProps.xml" Id="Rcb489057de2141db" /><Relationship Type="http://schemas.openxmlformats.org/officeDocument/2006/relationships/viewProps" Target="/ppt/viewProps.xml" Id="Rfef2d835131b4fa4" /><Relationship Type="http://schemas.openxmlformats.org/officeDocument/2006/relationships/tableStyles" Target="/ppt/tableStyles.xml" Id="R5bdb0c00306b4465" /><Relationship Type="http://schemas.openxmlformats.org/officeDocument/2006/relationships/slide" Target="/ppt/slides/slide1.xml" Id="R15b25d2c528645e3" /><Relationship Type="http://schemas.openxmlformats.org/officeDocument/2006/relationships/slide" Target="/ppt/slides/slide2.xml" Id="Rac4a7aaf5f7540c6" /><Relationship Type="http://schemas.openxmlformats.org/officeDocument/2006/relationships/slide" Target="/ppt/slides/slide3.xml" Id="R764f30bdb0904d5c" /><Relationship Type="http://schemas.openxmlformats.org/officeDocument/2006/relationships/slide" Target="/ppt/slides/slide4.xml" Id="Rbbd12229d11748d3" /><Relationship Type="http://schemas.openxmlformats.org/officeDocument/2006/relationships/slide" Target="/ppt/slides/slide5.xml" Id="Rad406512f44f4388" /><Relationship Type="http://schemas.openxmlformats.org/officeDocument/2006/relationships/slide" Target="/ppt/slides/slide6.xml" Id="R3d4377e170e74999" /><Relationship Type="http://schemas.openxmlformats.org/officeDocument/2006/relationships/slide" Target="/ppt/slides/slide7.xml" Id="R6594313d61f946de" /><Relationship Type="http://schemas.openxmlformats.org/officeDocument/2006/relationships/slide" Target="/ppt/slides/slide8.xml" Id="Ra6b82a96abfa434d" /><Relationship Type="http://schemas.openxmlformats.org/officeDocument/2006/relationships/slide" Target="/ppt/slides/slide9.xml" Id="R65df9b3f464c46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696440e197849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140bb15e2e49cf" /><Relationship Type="http://schemas.openxmlformats.org/officeDocument/2006/relationships/notesMaster" Target="/ppt/notesMasters/notesMaster1.xml" Id="R6aa0ac303e5249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2ec90af9f948e5" /><Relationship Type="http://schemas.openxmlformats.org/officeDocument/2006/relationships/notesMaster" Target="/ppt/notesMasters/notesMaster1.xml" Id="R2f9bf3ec6e6b49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8404b4c4a64ab7" /><Relationship Type="http://schemas.openxmlformats.org/officeDocument/2006/relationships/notesMaster" Target="/ppt/notesMasters/notesMaster1.xml" Id="Rc1789e39954b4c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74fbcc9b3949df" /><Relationship Type="http://schemas.openxmlformats.org/officeDocument/2006/relationships/notesMaster" Target="/ppt/notesMasters/notesMaster1.xml" Id="R7aa52849d13841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21ba459ffb4c87" /><Relationship Type="http://schemas.openxmlformats.org/officeDocument/2006/relationships/notesMaster" Target="/ppt/notesMasters/notesMaster1.xml" Id="Rb781344657e54e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7c317d380b4c06" /><Relationship Type="http://schemas.openxmlformats.org/officeDocument/2006/relationships/notesMaster" Target="/ppt/notesMasters/notesMaster1.xml" Id="Re52a14afa85c4a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bbee12d7ea4d76" /><Relationship Type="http://schemas.openxmlformats.org/officeDocument/2006/relationships/notesMaster" Target="/ppt/notesMasters/notesMaster1.xml" Id="R372210357f9a4c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0e828a6af549bb" /><Relationship Type="http://schemas.openxmlformats.org/officeDocument/2006/relationships/notesMaster" Target="/ppt/notesMasters/notesMaster1.xml" Id="Rb0c84fabc27f48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e76c14fb774c09" /><Relationship Type="http://schemas.openxmlformats.org/officeDocument/2006/relationships/notesMaster" Target="/ppt/notesMasters/notesMaster1.xml" Id="Ra549f024b18944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3cf40be7a4ae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06c73cbe1eb41e6" /><Relationship Type="http://schemas.openxmlformats.org/officeDocument/2006/relationships/slideLayout" Target="/ppt/slideLayouts/slideLayout2.xml" Id="R3bc99f904bfc4e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c99f904bfc4e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7dc080c1a64a95" /><Relationship Type="http://schemas.openxmlformats.org/officeDocument/2006/relationships/image" Target="/ppt/media/image.jpeg" Id="Refdac60855c44fed" /><Relationship Type="http://schemas.openxmlformats.org/officeDocument/2006/relationships/notesSlide" Target="/ppt/notesSlides/notesSlide1.xml" Id="R954c5236a2b148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48e9c8a452454b" /><Relationship Type="http://schemas.openxmlformats.org/officeDocument/2006/relationships/notesSlide" Target="/ppt/notesSlides/notesSlide2.xml" Id="R6f44a2ea326748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d1f92b786745ff" /><Relationship Type="http://schemas.openxmlformats.org/officeDocument/2006/relationships/image" Target="/ppt/media/image.png" Id="Rbf3f377c1ad9443d" /><Relationship Type="http://schemas.openxmlformats.org/officeDocument/2006/relationships/image" Target="/ppt/media/image.svg" Id="R32958dd967cf4efd" /><Relationship Type="http://schemas.openxmlformats.org/officeDocument/2006/relationships/image" Target="/ppt/media/image2.png" Id="R90d8e31ab49b41f2" /><Relationship Type="http://schemas.openxmlformats.org/officeDocument/2006/relationships/image" Target="/ppt/media/image2.svg" Id="R30e8731c7b9942ae" /><Relationship Type="http://schemas.openxmlformats.org/officeDocument/2006/relationships/image" Target="/ppt/media/image3.png" Id="Rf6ccc762363242eb" /><Relationship Type="http://schemas.openxmlformats.org/officeDocument/2006/relationships/image" Target="/ppt/media/image3.svg" Id="Raa93c15123944820" /><Relationship Type="http://schemas.openxmlformats.org/officeDocument/2006/relationships/image" Target="/ppt/media/image4.png" Id="R73de579bbaf14585" /><Relationship Type="http://schemas.openxmlformats.org/officeDocument/2006/relationships/image" Target="/ppt/media/image4.svg" Id="R54c3ad22508c4e0f" /><Relationship Type="http://schemas.openxmlformats.org/officeDocument/2006/relationships/notesSlide" Target="/ppt/notesSlides/notesSlide3.xml" Id="R31977e93e6c24d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4f0d1924364a4f" /><Relationship Type="http://schemas.openxmlformats.org/officeDocument/2006/relationships/image" Target="/ppt/media/image2.jpeg" Id="R8bad85bd89dd46e1" /><Relationship Type="http://schemas.openxmlformats.org/officeDocument/2006/relationships/notesSlide" Target="/ppt/notesSlides/notesSlide4.xml" Id="Rae8b9d579fe14e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39efd15cfa4cbb" /><Relationship Type="http://schemas.openxmlformats.org/officeDocument/2006/relationships/image" Target="/ppt/media/image3.jpeg" Id="R891c433f5a4f4f09" /><Relationship Type="http://schemas.openxmlformats.org/officeDocument/2006/relationships/notesSlide" Target="/ppt/notesSlides/notesSlide5.xml" Id="R1a2ecf2f0ef947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804d9f0a734dd6" /><Relationship Type="http://schemas.openxmlformats.org/officeDocument/2006/relationships/image" Target="/ppt/media/image4.jpeg" Id="Re2352ac220d940d7" /><Relationship Type="http://schemas.openxmlformats.org/officeDocument/2006/relationships/image" Target="/ppt/media/image5.png" Id="R10f86259d40d46ff" /><Relationship Type="http://schemas.openxmlformats.org/officeDocument/2006/relationships/notesSlide" Target="/ppt/notesSlides/notesSlide6.xml" Id="Re2eb9432dfa148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d42f85b1c64c16" /><Relationship Type="http://schemas.openxmlformats.org/officeDocument/2006/relationships/notesSlide" Target="/ppt/notesSlides/notesSlide7.xml" Id="Rc600b63bac9f4d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e6bb6af4454379" /><Relationship Type="http://schemas.openxmlformats.org/officeDocument/2006/relationships/image" Target="/ppt/media/image6.png" Id="Rd6d1787926f84da5" /><Relationship Type="http://schemas.openxmlformats.org/officeDocument/2006/relationships/notesSlide" Target="/ppt/notesSlides/notesSlide8.xml" Id="Ref629cfa290148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173988d9a44b24" /><Relationship Type="http://schemas.openxmlformats.org/officeDocument/2006/relationships/notesSlide" Target="/ppt/notesSlides/notesSlide9.xml" Id="R7ad305d4dd6944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488D19-3A54-476E-89F9-04173281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7EEF1-0527-4170-98EE-FCB244CC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95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2967F-B6B6-435A-9243-F793834E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0"/>
            <a:ext cx="769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15BEB-9F63-4092-84F2-1E09F4EF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101D1-F751-4913-B416-B5C219C6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E0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E0DA"/>
                </a:solidFill>
                <a:latin typeface="Aptos"/>
                <a:ea typeface="Aptos"/>
                <a:cs typeface="Aptos"/>
              </a:rPr>
              <a:t>AI-POWERED RETAIL VIDEO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1F0BA-FC71-415A-BE1C-0D723510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AisleIQ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75639-1F76-4394-9656-AAE15004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276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9F3F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E9F3F7"/>
                </a:solidFill>
                <a:latin typeface="Aptos Display"/>
                <a:ea typeface="Aptos Display"/>
                <a:cs typeface="Aptos Display"/>
              </a:rPr>
              <a:t>Turns store camera footage into decisions an operations team can act 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023E2-13BE-456C-ADBE-07A68920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D0D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FD0DC"/>
                </a:solidFill>
                <a:latin typeface="Aptos"/>
                <a:ea typeface="Aptos"/>
                <a:cs typeface="Aptos"/>
              </a:rPr>
              <a:t>The project combines a video-processing backend, documented APIs, and a live dashboard for occupancy, events, alerts, and processing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14D68-F155-4FF6-8C05-68AC3E93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AE0D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8AE0DA"/>
                </a:solidFill>
                <a:latin typeface="Aptos Display"/>
                <a:ea typeface="Aptos Display"/>
                <a:cs typeface="Aptos Display"/>
              </a:rPr>
              <a:t>Video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C0F19-DD17-4B91-9F13-699801DD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2A9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2A9B8"/>
                </a:solidFill>
                <a:latin typeface="Aptos"/>
                <a:ea typeface="Aptos"/>
                <a:cs typeface="Aptos"/>
              </a:rPr>
              <a:t>Footage becomes structured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B7E3D-E504-4DFA-B7B4-6B8549A4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863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9C15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9C15B"/>
                </a:solidFill>
                <a:latin typeface="Aptos Display"/>
                <a:ea typeface="Aptos Display"/>
                <a:cs typeface="Aptos Display"/>
              </a:rPr>
              <a:t>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A1A63-6B88-4324-924D-0DF4FF29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054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2A9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2A9B8"/>
                </a:solidFill>
                <a:latin typeface="Aptos"/>
                <a:ea typeface="Aptos"/>
                <a:cs typeface="Aptos"/>
              </a:rPr>
              <a:t>Integration-ready endpoints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D0225-C3E6-410E-AD25-916105B1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863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BD99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7BD99A"/>
                </a:solidFill>
                <a:latin typeface="Aptos Display"/>
                <a:ea typeface="Aptos Display"/>
                <a:cs typeface="Aptos Display"/>
              </a:rPr>
              <a:t>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559E0-55AD-4E4A-BF04-DA498EDF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054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2A9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2A9B8"/>
                </a:solidFill>
                <a:latin typeface="Aptos"/>
                <a:ea typeface="Aptos"/>
                <a:cs typeface="Aptos"/>
              </a:rPr>
              <a:t>Tests passed in 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51E58-5ECF-430A-BA81-03663CE5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647700"/>
            <a:ext cx="62674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7D9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ac60855c44fed"/>
          <a:stretch xmlns:a="http://schemas.openxmlformats.org/drawingml/2006/main"/>
        </p:blipFill>
        <p:spPr>
          <a:xfrm xmlns:a="http://schemas.openxmlformats.org/drawingml/2006/main">
            <a:off x="5534927" y="685800"/>
            <a:ext cx="5313145" cy="35052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C9F25-7C26-456E-91CC-F0E61811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8625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Live dashboard overview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7283D-246B-43F4-8CD3-A37FD42B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00600"/>
            <a:ext cx="5657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BD676-2966-4F9C-BFE7-DC2E0244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10150"/>
            <a:ext cx="514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Submission-ready artifact: dashboard snapshots, API docs, GitHub repo, and this pitch deck.</a:t>
            </a:r>
          </a:p>
        </p:txBody>
      </p:sp>
    </p:spTree>
    <p:extLst>
      <p:ext uri="{BB962C8B-B14F-4D97-AF65-F5344CB8AC3E}">
        <p14:creationId xmlns:p14="http://schemas.microsoft.com/office/powerpoint/2010/main" val="19474313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368DC2-B3FB-47EA-B853-38297046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0C900-8612-482C-A54A-742CFB84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A5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9DF7B-9F28-4CBD-8FC2-EB447FF0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Retail video is abundant; store signals are still trapped in manual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F3236-A350-440F-9D4B-E7177390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AisleIQ targets the gap between recorded footage and fast store-level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2E6E5-F8C4-4EB8-833B-3B014BAD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7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573FA-BB51-404E-AE33-467E182D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CCTV footage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F3253-8792-4426-A4BE-79A77C85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E20AE-327C-43E7-99B9-D484C15D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52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A0164-9B32-4BBE-B83A-C8863CEF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84D21-CD93-49C7-9B75-7D2CA47E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35B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35B4F"/>
                </a:solidFill>
                <a:latin typeface="Aptos"/>
                <a:ea typeface="Aptos"/>
                <a:cs typeface="Aptos"/>
              </a:rPr>
              <a:t>Late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7E06D-2DD8-49A0-8670-28CDB8F1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952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The information exists, but it rarely becomes structured, searchable, or operational in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94FF9-EAF2-4EFC-8D47-C3862D97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3048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7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4CFC9-5CA0-4647-81ED-6A340B08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51037-B21A-4B2F-A696-8F3AE513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Crowding is hard to catch live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3E6F6-CC26-4AFC-9CE0-BE868AF4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743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Peak occupancy and bottlenecks can build before staff notices, especially across multiple zones or cameras.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B8F8C-FFE4-479B-A129-927A6E2E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3048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7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54EAC-36A7-4C13-817B-C483B3FE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F064A-851F-45E3-A23D-702BB196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242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Queues lack structured 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6EC6B6-A4E5-46D6-9228-F68D1A55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90950"/>
            <a:ext cx="2743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Managers see the symptom, not the timeline of when it started, how long it lasted, or where it repeated.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F0E0C-29BA-4C01-8D04-D9711CB7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3048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7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E5163-593B-4CBE-AA7B-3F3387E8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36584A-7E34-465C-87D3-FA6191B3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242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Dwell anomalies stay invisible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F81652-9706-481C-B8CB-C657CC1B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2743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Loitering, unusual zone behavior, and repeated high-dwell patterns need event-level intelligence.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65B92D-577A-4970-9EDA-9EC920D7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024529-0703-48F9-9083-3E10CD17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AisleIQ pitch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DCBA65-E9C5-4FB4-B97C-1119A957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8550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F5AE88-EB43-47DC-AF5E-F2003069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7298E-3A10-4BE9-9C40-65334C22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A5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3EFF8-2AB5-415A-8FEC-9955DD3E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AisleIQ converts raw footage into events, analytics, alerts, and APIs.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D0811-FB0B-47B9-BA53-1493F083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The solution is designed as a product platform, not only a single demo screen.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A8847-C8AF-4848-AF2B-26FADA1A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1717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AFC2E-3795-474F-ABAF-4622EA9B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171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f377c1ad9443d">
            <a:extLst>
              <a:ext uri="{96DAC541-7B7A-43D3-8B79-37D633B846F1}">
                <asvg:svgBlip xmlns:asvg="http://schemas.microsoft.com/office/drawing/2016/SVG/main" r:embed="R32958dd967cf4e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25241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AFD9E-E761-4B5D-A9CC-0492246F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0375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Camera footage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40205-3C8F-443A-86F4-9758A55E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Upload or process store video.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3A96E-D732-49FF-8624-EE6A1D3B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5A458-45DD-463B-9E46-842ABB77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0384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D9D78-CC52-41A8-AACF-E54F44F5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1700"/>
            <a:ext cx="21717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6DC3E-6E14-4413-8107-6F1A4BAB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1700"/>
            <a:ext cx="2171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8e31ab49b41f2">
            <a:extLst>
              <a:ext uri="{96DAC541-7B7A-43D3-8B79-37D633B846F1}">
                <asvg:svgBlip xmlns:asvg="http://schemas.microsoft.com/office/drawing/2016/SVG/main" r:embed="R30e8731c7b9942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48100" y="25241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C16CF-EF08-45DF-8779-1BB5F48E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00375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Detection and tracking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17B17-4705-4024-B632-945A4C9A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480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Identify shoppers and persist movement across frames.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D4A9A-F77D-4C45-B81F-10CBAE5E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A7B7A-CF58-4413-B667-756682EE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0384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AF4D5-4A14-48E3-B876-6F9E4F97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21717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4926EE-B1ED-470A-B3E1-9F617A6C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2171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cc762363242eb">
            <a:extLst>
              <a:ext uri="{96DAC541-7B7A-43D3-8B79-37D633B846F1}">
                <asvg:svgBlip xmlns:asvg="http://schemas.microsoft.com/office/drawing/2016/SVG/main" r:embed="Raa93c151239448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05600" y="25241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CE9B67-3ED7-484A-9ABE-0D3FB206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Store intelligence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35EEE4-819B-4815-B64D-78F5364D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Generate occupancy, zone movement, dwell, queue, and alert signals.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DF84F2-3DD2-4BF3-9822-E358D9F3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CC2278-973C-4C29-BA1C-B484B80E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384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6D8725-9074-4C76-9908-A88A3A8D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71700"/>
            <a:ext cx="21717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03D4F-8EC1-488A-8BE1-35D2248A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71700"/>
            <a:ext cx="2171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e579bbaf14585">
            <a:extLst>
              <a:ext uri="{96DAC541-7B7A-43D3-8B79-37D633B846F1}">
                <asvg:svgBlip xmlns:asvg="http://schemas.microsoft.com/office/drawing/2016/SVG/main" r:embed="R54c3ad22508c4e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63100" y="25241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2B85B5-97DA-4442-A69D-E1C2D8A5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00375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API and 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177A10-4B82-4EBF-937B-46093299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480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Expose results through FastAPI docs and a Streamlit operations console.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C23CB2-07D4-451A-9048-65014A16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76800"/>
            <a:ext cx="9220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D"/>
          </a:solidFill>
          <a:ln xmlns:a="http://schemas.openxmlformats.org/drawingml/2006/main" w="11430">
            <a:solidFill>
              <a:srgbClr val="A8DA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AEDCDE-9E97-4A67-B423-187A5FD9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67300"/>
            <a:ext cx="843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Result: retail teams get a searchable, measurable operating layer on top of existing video infrastructure.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870293-28A6-4C88-9EAB-4FFF58CD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EE46E4-FBF7-4DDD-9ECC-76FD6472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AisleIQ pitch deck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C563F4-BB87-4068-8B5B-CFD016A4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52530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961B6C-731D-4219-B211-579F7FBA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85A1D-496D-40DA-AB1C-B3F706D6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A5"/>
                </a:solidFill>
                <a:latin typeface="Aptos"/>
                <a:ea typeface="Aptos"/>
                <a:cs typeface="Aptos"/>
              </a:rPr>
              <a:t>DASHBOARD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A243C-0049-4049-B979-C41E2D78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dashboard gives store operators a live view of traffic, zones, and processing.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DAA11-F87E-4555-9BBD-107A7135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Screenshot captured from the running local app.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E5B51-8D93-4E20-A4C1-E396006F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315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7D9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d85bd89dd46e1"/>
          <a:stretch xmlns:a="http://schemas.openxmlformats.org/drawingml/2006/main"/>
        </p:blipFill>
        <p:spPr>
          <a:xfrm xmlns:a="http://schemas.openxmlformats.org/drawingml/2006/main">
            <a:off x="1105903" y="1657350"/>
            <a:ext cx="6208295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A05E0-32BF-4C0E-A50E-A710F0CF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483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Dashboard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4ED0C-2FC5-4D66-AFB8-43B471C4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9070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7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D5D0F-953F-4F1D-80A0-6B5735D6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9070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7E443-E540-454F-98D1-B935E9A1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Operational KPIs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A910E-5DD1-4AE1-937C-339B5574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2438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Top-level counts summarize processed jobs, shopper events, active alerts, and tracked zones.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143C2-4B95-44CC-AFAE-A3138100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7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B7A71-B03B-4B56-82F3-E77F2872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C56D3-4D91-47E9-89FC-9F117988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766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Video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7BB91-E7CB-47F8-B7DD-1C60CA6D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43300"/>
            <a:ext cx="2438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Users can upload video, start processing, and refresh dashboard state without leaving the app.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5959D-1F1B-4BDB-9D37-2A019808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9580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7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95F49-A8FB-43A1-972B-95783C72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9580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BBE008-92B4-4EA6-A5B0-620253F0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291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Analytics surfaces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B8308-BAED-45D5-A7A3-D670AC64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95850"/>
            <a:ext cx="2438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Occupancy trends and zone analytics make video output measurable instead of anecdotal.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F9059-071C-4FD1-A553-7FF9752F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7475B8-C0A3-458E-8866-C3168ACC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AisleIQ pitch deck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7EEF3-499C-49DA-BF82-2E9778F1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72683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6F22C4-B693-4160-8D41-10E5DC9D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7B331-37C1-4ACD-871B-37328333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A5"/>
                </a:solidFill>
                <a:latin typeface="Aptos"/>
                <a:ea typeface="Aptos"/>
                <a:cs typeface="Aptos"/>
              </a:rPr>
              <a:t>OPERATIONS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C08CC-C172-4319-8769-AE915189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Events, alerts, and jobs turn model output into an auditable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51424-1D79-45BF-8B4A-4AB0305B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The app keeps recent activity visible so teams can inspect what happened and when.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8E6FE-3524-4833-BA1D-E4309647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66294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7D9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c433f5a4f4f09"/>
          <a:stretch xmlns:a="http://schemas.openxmlformats.org/drawingml/2006/main"/>
        </p:blipFill>
        <p:spPr>
          <a:xfrm xmlns:a="http://schemas.openxmlformats.org/drawingml/2006/main">
            <a:off x="941471" y="1695450"/>
            <a:ext cx="5775158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0E38B-8F28-4612-BD70-17DF7AC2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655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Events, alerts, and processing jobs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8354B-8CB6-4FF0-853B-8C3863FB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90700"/>
            <a:ext cx="31813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7DF8B-2F10-4F9B-BBFC-FE441ABE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90700"/>
            <a:ext cx="3181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41EAE-7657-45E4-B387-E4947A00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193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7A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76561-456C-446C-8539-A52D9EB8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19300"/>
            <a:ext cx="2457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Recent 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383D1-1981-4662-90B5-01BB62CE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Entries, exits, zone movement, and dwell updates become timestamped records.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93A23-0913-4345-821F-75F25B88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05150"/>
            <a:ext cx="31813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AB3D3-21D3-438B-921C-0FA42D6E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05150"/>
            <a:ext cx="3181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1D8D2-3B2D-4027-80EA-DFAE4D5E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337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35B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35B4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3F748-CF2A-4339-82B3-C5A6B629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2457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Active alerts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60F34-0400-482E-B683-C38DE8F7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Crowding, queue buildup, and unusual dwell patterns can be triaged from one 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DFE4E-0392-4D6B-A44D-44BC4127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19600"/>
            <a:ext cx="31813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AFFDE-7DC4-4C83-858A-50DAAE50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19600"/>
            <a:ext cx="3181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CC66D-9D9C-45E3-94DF-9B2F390A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482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57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57C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8B476-06E8-4310-9042-20219DB7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2457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Processing jobs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7C8CA7-264F-49CB-A11D-9E174BCE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3395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Completed and running jobs keep batch video processing transparent.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5BFE51-73C0-4314-BB41-AFD1AD07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581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Proof point: AisleIQ already has the surfaces a store team would expect to monitor after upload.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DCF9B-5CD7-4C50-AEB4-3F518D5E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57182F-48FC-44D3-94EE-8AF15143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AisleIQ pitch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2CFE3F-8458-42A9-8BF3-6BC87B99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551263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D51B31-3B57-4266-B5C1-E8212E56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4BA2F-9E5D-4B62-89D9-2D9B28E6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A5"/>
                </a:solidFill>
                <a:latin typeface="Aptos"/>
                <a:ea typeface="Aptos"/>
                <a:cs typeface="Aptos"/>
              </a:rPr>
              <a:t>API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CD262-05A4-4C0E-9FAF-FF3B6C66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Documented endpoints make the intelligence reusable beyond the dashboard.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C53DA-B507-4C8B-A995-4185A521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FastAPI docs are captured in light mode for submission readability.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AE55C-4949-4943-8FF5-0314E304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1816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7D9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52ac220d940d7"/>
          <a:stretch xmlns:a="http://schemas.openxmlformats.org/drawingml/2006/main"/>
        </p:blipFill>
        <p:spPr>
          <a:xfrm xmlns:a="http://schemas.openxmlformats.org/drawingml/2006/main">
            <a:off x="765609" y="1619250"/>
            <a:ext cx="4793381" cy="3162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7CE05-D758-4789-9EBA-FD7519F2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510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Swagger API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070FF-0818-47D6-87AF-83B62AA7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81150"/>
            <a:ext cx="51816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7D9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86259d40d46ff"/>
          <a:stretch xmlns:a="http://schemas.openxmlformats.org/drawingml/2006/main"/>
        </p:blipFill>
        <p:spPr>
          <a:xfrm xmlns:a="http://schemas.openxmlformats.org/drawingml/2006/main">
            <a:off x="6633009" y="1619250"/>
            <a:ext cx="4793381" cy="31623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6C57E-116C-47F2-AC2B-FBAF3C94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76800"/>
            <a:ext cx="510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Jobs API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9F858-F668-47AF-9E70-338BFAA0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388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FE235-674C-4EFE-8ED4-91970F5C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15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4257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4257C7"/>
                </a:solidFill>
                <a:latin typeface="Aptos"/>
                <a:ea typeface="Aptos"/>
                <a:cs typeface="Aptos"/>
              </a:rPr>
              <a:t>/health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BE928-9624-4FDE-A4AE-784EC847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245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service readiness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E6801-8A53-4E8D-806F-EE65AF1C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6388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F644D-D585-423B-9180-AB8F155F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4257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4257C7"/>
                </a:solidFill>
                <a:latin typeface="Aptos"/>
                <a:ea typeface="Aptos"/>
                <a:cs typeface="Aptos"/>
              </a:rPr>
              <a:t>/events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7EEFB-E795-4FA8-B8AA-D1FD3F10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245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structured shopper events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896B4-0679-4ACF-A272-5BB051F0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388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32A6A-4884-441C-8734-BC0851C7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715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4257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4257C7"/>
                </a:solidFill>
                <a:latin typeface="Aptos"/>
                <a:ea typeface="Aptos"/>
                <a:cs typeface="Aptos"/>
              </a:rPr>
              <a:t>/analytics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92CFA-9631-4261-9419-A3FC23A9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9245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zone and occupancy summaries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8A838-8B34-463A-9217-88A9433F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6388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21902-9791-4072-B2C8-19564B21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715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4257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4257C7"/>
                </a:solidFill>
                <a:latin typeface="Aptos"/>
                <a:ea typeface="Aptos"/>
                <a:cs typeface="Aptos"/>
              </a:rPr>
              <a:t>/alerts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D276C6-BBEA-4A75-A673-263DDBC8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9245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risk and anomaly surfacing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DACDB-A9A2-4D77-8EE8-0CD9BA9C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388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402B85-9B43-49FB-9B3F-F6E4A79E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715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4257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4257C7"/>
                </a:solidFill>
                <a:latin typeface="Aptos"/>
                <a:ea typeface="Aptos"/>
                <a:cs typeface="Aptos"/>
              </a:rPr>
              <a:t>/process-video/jobs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E2FB25-BA1F-4670-8DA0-C04F2738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9245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processing 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AC93E5-E2A2-461E-8416-460D115C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CE6012-DFD8-4777-A704-33DD4EBA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AisleIQ pitch deck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0FC667-E8C5-43A2-82DC-94295063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663408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4CF014-F8BD-4072-B395-779E632F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C66DD-9459-45B1-944F-546F9146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A5"/>
                </a:solidFill>
                <a:latin typeface="Aptos"/>
                <a:ea typeface="Aptos"/>
                <a:cs typeface="Aptos"/>
              </a:rPr>
              <a:t>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6BFF9-96C0-4A05-86AF-E535674A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model output is shaped into retail concepts: zones, dwell, occupancy, and anomalies.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3926B-8E62-4E26-8111-C95B1373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Editable diagram based on the project feature 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C077A-9405-41B5-9BAD-7919FA3C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5086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109D4-D497-4A1C-8264-732025CA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Store floor abstraction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CDC46-BA10-4814-8EF9-31850C9D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1676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7"/>
          </a:solidFill>
          <a:ln xmlns:a="http://schemas.openxmlformats.org/drawingml/2006/main" w="11430">
            <a:solidFill>
              <a:srgbClr val="9FDA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20DE9-392A-428A-BBC5-DA002388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05125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7A5"/>
                </a:solidFill>
                <a:latin typeface="Aptos"/>
                <a:ea typeface="Aptos"/>
                <a:cs typeface="Aptos"/>
              </a:rPr>
              <a:t>Entrance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7F724-6017-4BAF-A4E5-B465607A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76500"/>
            <a:ext cx="2076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4E3"/>
          </a:solidFill>
          <a:ln xmlns:a="http://schemas.openxmlformats.org/drawingml/2006/main" w="11430">
            <a:solidFill>
              <a:srgbClr val="F0CB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9027D-BB33-4EB7-8DB0-55337866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051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7A1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A12C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C9D98-011B-4C02-ABFD-ED401811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4057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F"/>
          </a:solidFill>
          <a:ln xmlns:a="http://schemas.openxmlformats.org/drawingml/2006/main" w="11430">
            <a:solidFill>
              <a:srgbClr val="BAC3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E6C16-3608-401E-B613-65C002D7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338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257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57C7"/>
                </a:solidFill>
                <a:latin typeface="Aptos"/>
                <a:ea typeface="Aptos"/>
                <a:cs typeface="Aptos"/>
              </a:rPr>
              <a:t>Shopping zone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A9E23-6A06-4299-B029-9DBEB370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05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51C83-4F3B-44F0-89A1-7CB4E62F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719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7C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73E1F-1489-4FD7-B3A1-423F2396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767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7C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0955F-D8D9-4900-A8A6-967F1BDE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9371C-D4E1-412B-96A7-7E0CBEB0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0AB5D5-CBB2-4B6D-98F4-93461FEC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908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B58AB-5110-41ED-BEA6-E1DE8DE6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38625"/>
            <a:ext cx="1009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18B5C-463B-4031-812B-A9EBB097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577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236D3-75B5-4E79-93DB-4C84C00B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44958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12254-DCD3-4B3D-8AD8-2F78C47A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62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Derived intelligence signals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E19216-30E1-42C8-B995-F2D96461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384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A7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2ADCCD-4B34-4464-9D42-4F2BAB80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52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5D1F57-44D2-44CA-B95B-C05A5955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146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Occupancy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DAFC51-0D02-44AA-A1A7-0A12DCE0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384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257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771074-291B-46D5-8AF2-EA66B201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52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763599-C025-4EF0-8E2F-325C6BEB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146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Zone dwell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629582-D175-4FA3-B770-286C9C3C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146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7A1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263394-4398-4BC7-A0B7-E9DBF320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F1C0E7-B85C-412F-A9A9-9A8BBA48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9085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Queues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3498D1-0668-4B5E-8A60-55791445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35B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A38D67-E0D3-49BF-99FD-1DFF5601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A436AE-86C7-4AB4-99D2-D54D0DF8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9085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Alerts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0D828D-07AD-426D-BFC9-156902B6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004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Entrance flow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C50CC5-6E3F-4CAF-B667-E32FCE99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10827B-A3A9-4D5C-B70F-2B05F24A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168402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03EE4E-AEF5-4A8D-ABD4-B4C36D50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386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Checkout load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275CED-79E9-4433-AA99-8CD248F9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672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55E71E-6E9F-440F-8234-9D2F259E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67200"/>
            <a:ext cx="212979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237B84-25F1-42EC-BA9D-70EC252F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767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Dwell anomaly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B6DAD5-6145-42B0-A06A-23DB3E73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053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353F00-55F3-454C-B891-175F7C5B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05350"/>
            <a:ext cx="133731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7C5578-CFBA-4F6C-A290-47BF6FD1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67300"/>
            <a:ext cx="3676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AisleIQ is built to make computer vision useful in store-language terms.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EEE128-F22F-44E3-9241-AC1286B8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574CC1-69F4-47EC-B2CE-AF06CA49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AisleIQ pitch deck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91A744-D510-4F6F-900A-7719C427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665770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42510D-366F-4CF7-8F83-C297E9E3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5133E-D47B-4A25-A79D-27298321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A5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3D06F-7B19-4FF6-8376-95EF2DCC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project has enough product, API, and test evidence for submission.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C9BA7-9ACB-45D9-B612-4256D963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Verification includes the running services and automated tests.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9E4CA-8DDF-4F6B-B78B-4DA9B479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1C675-7DB2-4D7F-9DF8-1EFC7CBA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6DE0F-6230-42A5-BA59-276316A9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6D71D-8D12-4F44-90F2-D8DF4CFE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57375"/>
            <a:ext cx="3505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FastAPI service with documented routes and SQLite persistence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F76D2-E3A3-490D-A9A9-381E44EA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AEF24-5BE0-413A-A747-26CDEE0A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585E5-EE5D-4784-8637-57E20A5C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EB746-7E04-4479-BC69-D83D53A8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00325"/>
            <a:ext cx="3505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Streamlit interface for upload, processing, analytics, events, alerts, and jobs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71DFB-3F4C-4CA3-819E-416433AA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87B40-23EC-415B-973F-ABD29EF2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48532-A29B-4158-82A7-00CFA3F8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43275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Computer vision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50899-8AB9-4CED-8B08-C47CF433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43275"/>
            <a:ext cx="3505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YOLO-based detection path plus fallback detector for local 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61F0B-EACA-4F5E-AA03-F66141F7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FF4F0-F25E-4308-AB32-7A0D6256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9D488D-BE0D-4C72-96E7-B9E318AE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86225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API checks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4586B-2DCB-4F54-B446-4BA4F382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86225"/>
            <a:ext cx="3505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Health and jobs endpoints validated through live docs and responses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F0C4E0-62FE-44DC-91E7-E9C6250D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2ED18-98B5-4AD4-82AD-A47A1FC5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BF15F0-0FA8-4643-9660-5B91DD28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29175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EB9316-EB44-45C9-852F-3185B052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29175"/>
            <a:ext cx="3505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55 tests passed with one non-blocking dependency warning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D59A97-6640-45E5-B5A9-87E448CC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3886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7D9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1787926f84da5"/>
          <a:stretch xmlns:a="http://schemas.openxmlformats.org/drawingml/2006/main"/>
        </p:blipFill>
        <p:spPr>
          <a:xfrm xmlns:a="http://schemas.openxmlformats.org/drawingml/2006/main">
            <a:off x="7285121" y="2057400"/>
            <a:ext cx="3031958" cy="20002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EAEE10-AD1A-4E46-A33E-016D7F3D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5290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Health endpoint response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EAD252-C84B-4755-A72B-3B68F310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4210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9AD8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D65C31-6231-45C5-BEDC-CC3D86C7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76800"/>
            <a:ext cx="3638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The demo is not just visual: the API, docs, dashboard, snapshots, and code are all in the repo.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985DDD-C6EB-4B46-AB42-50592319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64D8E4-D174-4FD6-AF18-092D8800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AisleIQ pitch deck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0DFE13-02A5-4FE6-9545-DD3240CB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190794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4C4021-B042-48B5-B64C-3F71ADD9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1F991-A658-47CE-B4AD-FD9681CD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A5"/>
                </a:solidFill>
                <a:latin typeface="Aptos"/>
                <a:ea typeface="Aptos"/>
                <a:cs typeface="Aptos"/>
              </a:rPr>
              <a:t>SUBMISSION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D42BB-4DD3-4B6E-BEFD-5728806E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AisleIQ is packaged for review: title, description, snapshots, deck, and GitHub repo.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F3910-6E6F-49D5-A108-E9B4EB12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Use this deck as the Presentation upload file.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4A056-6EA9-43D4-81BB-A9F15F43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E2FF5-301B-4849-B0C4-CA8B7F2E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E5E37-3E00-48DB-A93A-AC0A4E52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7A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4F70E-55EE-43A6-BE59-249AA447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955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Submit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68ABC-3E78-47AB-BBBF-4AE6E8D7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81250"/>
            <a:ext cx="2419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Upload this PPTX, the screenshots under docs/submission-snapshots, and the title/description from docs/SUBMISSION.md.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83786-D42E-4082-9D55-5B9B922D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6690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1C300-4DCD-4081-B3DF-3F2865BB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669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E0807-9E70-4B85-9EDF-F5913921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73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773D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57779-8F29-43F7-BC54-1D4AA91B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955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9D7E5-C61B-4961-8C58-192898D0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2419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Run the dashboard at localhost:8501 and the API docs at localhost:8000/docs for live walkthroughs.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A8AA4-2981-4473-BDBC-D56347AC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E3824-C514-4368-A4B2-2652B5EC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73A39-5A3C-4AFA-ADEA-B6C20F3F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57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57C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55452-202C-4AA4-911D-A735460F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Extend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77B1F-B8A3-4E40-867E-E9A5CE01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419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655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65568"/>
                </a:solidFill>
                <a:latin typeface="Aptos"/>
                <a:ea typeface="Aptos"/>
                <a:cs typeface="Aptos"/>
              </a:rPr>
              <a:t>Connect more cameras, add multi-store reporting, and train store-specific alert thresholds.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E28C6-FC1F-43D6-BCF8-74817D35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10058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A4E308-FE2D-4CE1-B079-E61C0315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925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AE0D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E0DA"/>
                </a:solidFill>
                <a:latin typeface="Aptos"/>
                <a:ea typeface="Aptos"/>
                <a:cs typeface="Aptos"/>
              </a:rPr>
              <a:t>GitHub repository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52C0E-21B4-4B30-886A-1C787163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33900"/>
            <a:ext cx="925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github.com/Nagarjuna-Singarapu/aisleiq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E7B29C-CE5E-4EC1-99FF-19F9C777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62600"/>
            <a:ext cx="8496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Core thesis: existing store cameras can become a real-time operating layer when video is converted into structured events and decision surfaces.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BF0405-83E3-427B-A73B-4601A804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EA0DFC-0D95-4872-A06A-978F875C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AisleIQ pitch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76B01D-2C24-4AA3-8AF2-A8BA24D1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B778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78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69105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2026-05-30T11:27:28.7470000Z</dcterms:created>
  <dcterms:modified xsi:type="dcterms:W3CDTF">2026-05-30T11:27:28.7470000Z</dcterms:modified>
</coreProperties>
</file>